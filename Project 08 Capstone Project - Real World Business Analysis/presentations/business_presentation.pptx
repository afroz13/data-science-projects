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59" r:id="rId6"/>
    <p:sldId id="271" r:id="rId7"/>
    <p:sldId id="265" r:id="rId8"/>
    <p:sldId id="264" r:id="rId9"/>
    <p:sldId id="268" r:id="rId10"/>
    <p:sldId id="267" r:id="rId11"/>
    <p:sldId id="270" r:id="rId12"/>
    <p:sldId id="262" r:id="rId13"/>
    <p:sldId id="269" r:id="rId14"/>
    <p:sldId id="266" r:id="rId15"/>
    <p:sldId id="26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71AC75-5A0D-F588-B983-A699E53B9B8C}" v="175" dt="2026-05-27T17:12:17.751"/>
    <p1510:client id="{9E261B7E-9D66-4EAB-8828-55F6243FA159}" v="700" dt="2026-05-27T23:14:58.2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152D1D-2482-4620-BE68-2E5175B8BED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F8DE2E3-4A74-4421-94FF-44EA17C792C3}">
      <dgm:prSet custT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800" b="1"/>
            <a:t>Data Cleaning &amp; Preparation :</a:t>
          </a:r>
          <a:r>
            <a:rPr lang="en-US" sz="1800"/>
            <a:t> Imported raw customer database. Initial schema validation and type checking.</a:t>
          </a:r>
          <a:endParaRPr lang="en-US" sz="1800" dirty="0">
            <a:latin typeface="Aptos Display" panose="020F0302020204030204"/>
          </a:endParaRPr>
        </a:p>
      </dgm:t>
    </dgm:pt>
    <dgm:pt modelId="{BB80D642-5005-4096-968D-000BE14654FD}" type="parTrans" cxnId="{1792C3C1-1BC3-4854-BC4F-A83B013BB116}">
      <dgm:prSet/>
      <dgm:spPr/>
      <dgm:t>
        <a:bodyPr/>
        <a:lstStyle/>
        <a:p>
          <a:endParaRPr lang="en-US"/>
        </a:p>
      </dgm:t>
    </dgm:pt>
    <dgm:pt modelId="{A0E8E9E1-6821-49B9-A1DB-FA61FE792E37}" type="sibTrans" cxnId="{1792C3C1-1BC3-4854-BC4F-A83B013BB116}">
      <dgm:prSet/>
      <dgm:spPr/>
      <dgm:t>
        <a:bodyPr/>
        <a:lstStyle/>
        <a:p>
          <a:endParaRPr lang="en-US"/>
        </a:p>
      </dgm:t>
    </dgm:pt>
    <dgm:pt modelId="{30B99841-BAD3-41A4-9BBA-984BD83F90AD}">
      <dgm:prSet/>
      <dgm:spPr/>
      <dgm:t>
        <a:bodyPr/>
        <a:lstStyle/>
        <a:p>
          <a:pPr rtl="0">
            <a:lnSpc>
              <a:spcPct val="100000"/>
            </a:lnSpc>
            <a:defRPr cap="all"/>
          </a:pPr>
          <a:r>
            <a:rPr lang="en-US" sz="1800" b="1" dirty="0"/>
            <a:t>Data Cleansing:</a:t>
          </a:r>
          <a:r>
            <a:rPr lang="en-US" sz="1800" dirty="0"/>
            <a:t> Handled missing values, Removed duplicates,  Formatted </a:t>
          </a:r>
          <a:r>
            <a:rPr lang="en-US" sz="1800" dirty="0">
              <a:latin typeface="Aptos Display" panose="020F0302020204030204"/>
            </a:rPr>
            <a:t>Total Charges</a:t>
          </a:r>
          <a:r>
            <a:rPr lang="en-US" sz="1800" dirty="0"/>
            <a:t> .</a:t>
          </a:r>
        </a:p>
      </dgm:t>
    </dgm:pt>
    <dgm:pt modelId="{CE1D0B6D-0828-44FA-B5F7-56D34C25744D}" type="parTrans" cxnId="{839651CC-7BB2-43D4-B925-E40F7A213286}">
      <dgm:prSet/>
      <dgm:spPr/>
      <dgm:t>
        <a:bodyPr/>
        <a:lstStyle/>
        <a:p>
          <a:endParaRPr lang="en-US"/>
        </a:p>
      </dgm:t>
    </dgm:pt>
    <dgm:pt modelId="{097DA1C5-FF06-4215-867D-56480F77E862}" type="sibTrans" cxnId="{839651CC-7BB2-43D4-B925-E40F7A213286}">
      <dgm:prSet/>
      <dgm:spPr/>
      <dgm:t>
        <a:bodyPr/>
        <a:lstStyle/>
        <a:p>
          <a:endParaRPr lang="en-US"/>
        </a:p>
      </dgm:t>
    </dgm:pt>
    <dgm:pt modelId="{A97E40FA-3B98-47C6-8FD6-13AD3311389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800" b="1" dirty="0"/>
            <a:t>Analysis Ready :</a:t>
          </a:r>
          <a:r>
            <a:rPr lang="en-US" sz="1800" dirty="0"/>
            <a:t> Cleaned, validated, and normalized dataset ready for EDA and modeling. </a:t>
          </a:r>
        </a:p>
      </dgm:t>
    </dgm:pt>
    <dgm:pt modelId="{B16659EF-E22C-41F4-982C-38866720C82B}" type="parTrans" cxnId="{86C5C695-589C-42D6-A839-FB554CDB32D0}">
      <dgm:prSet/>
      <dgm:spPr/>
      <dgm:t>
        <a:bodyPr/>
        <a:lstStyle/>
        <a:p>
          <a:endParaRPr lang="en-US"/>
        </a:p>
      </dgm:t>
    </dgm:pt>
    <dgm:pt modelId="{61164ECC-4EED-49D8-9ACE-49CBC9E7EB15}" type="sibTrans" cxnId="{86C5C695-589C-42D6-A839-FB554CDB32D0}">
      <dgm:prSet/>
      <dgm:spPr/>
      <dgm:t>
        <a:bodyPr/>
        <a:lstStyle/>
        <a:p>
          <a:endParaRPr lang="en-US"/>
        </a:p>
      </dgm:t>
    </dgm:pt>
    <dgm:pt modelId="{60CC4D21-AF34-4801-AA0D-777E905DF2D9}" type="pres">
      <dgm:prSet presAssocID="{E5152D1D-2482-4620-BE68-2E5175B8BEDB}" presName="root" presStyleCnt="0">
        <dgm:presLayoutVars>
          <dgm:dir/>
          <dgm:resizeHandles val="exact"/>
        </dgm:presLayoutVars>
      </dgm:prSet>
      <dgm:spPr/>
    </dgm:pt>
    <dgm:pt modelId="{6C7A00B8-A8D4-4813-B1B6-4DFDB19859ED}" type="pres">
      <dgm:prSet presAssocID="{5F8DE2E3-4A74-4421-94FF-44EA17C792C3}" presName="compNode" presStyleCnt="0"/>
      <dgm:spPr/>
    </dgm:pt>
    <dgm:pt modelId="{7D4F496D-4AEC-49B3-AA1C-E84994A5B66A}" type="pres">
      <dgm:prSet presAssocID="{5F8DE2E3-4A74-4421-94FF-44EA17C792C3}" presName="iconBgRect" presStyleLbl="bgShp" presStyleIdx="0" presStyleCnt="3"/>
      <dgm:spPr/>
    </dgm:pt>
    <dgm:pt modelId="{571691CC-8EE7-4775-8117-8CAEB2B51A9C}" type="pres">
      <dgm:prSet presAssocID="{5F8DE2E3-4A74-4421-94FF-44EA17C792C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626E369-3BC7-42CE-952F-612BCFE263F8}" type="pres">
      <dgm:prSet presAssocID="{5F8DE2E3-4A74-4421-94FF-44EA17C792C3}" presName="spaceRect" presStyleCnt="0"/>
      <dgm:spPr/>
    </dgm:pt>
    <dgm:pt modelId="{DA720041-3C61-4181-A219-1087041D4433}" type="pres">
      <dgm:prSet presAssocID="{5F8DE2E3-4A74-4421-94FF-44EA17C792C3}" presName="textRect" presStyleLbl="revTx" presStyleIdx="0" presStyleCnt="3">
        <dgm:presLayoutVars>
          <dgm:chMax val="1"/>
          <dgm:chPref val="1"/>
        </dgm:presLayoutVars>
      </dgm:prSet>
      <dgm:spPr/>
    </dgm:pt>
    <dgm:pt modelId="{87460D4B-68DC-4625-8323-E0060C3E068F}" type="pres">
      <dgm:prSet presAssocID="{A0E8E9E1-6821-49B9-A1DB-FA61FE792E37}" presName="sibTrans" presStyleCnt="0"/>
      <dgm:spPr/>
    </dgm:pt>
    <dgm:pt modelId="{3BEC4229-9563-4020-8685-9169B0737D8E}" type="pres">
      <dgm:prSet presAssocID="{30B99841-BAD3-41A4-9BBA-984BD83F90AD}" presName="compNode" presStyleCnt="0"/>
      <dgm:spPr/>
    </dgm:pt>
    <dgm:pt modelId="{DB7793CC-6926-49EA-A3D8-DE861A2A413F}" type="pres">
      <dgm:prSet presAssocID="{30B99841-BAD3-41A4-9BBA-984BD83F90AD}" presName="iconBgRect" presStyleLbl="bgShp" presStyleIdx="1" presStyleCnt="3"/>
      <dgm:spPr/>
    </dgm:pt>
    <dgm:pt modelId="{3AD5ACCD-312A-413E-A210-0E7F55699C93}" type="pres">
      <dgm:prSet presAssocID="{30B99841-BAD3-41A4-9BBA-984BD83F90A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2E53262F-7943-48EF-82FA-8373DB6F4F04}" type="pres">
      <dgm:prSet presAssocID="{30B99841-BAD3-41A4-9BBA-984BD83F90AD}" presName="spaceRect" presStyleCnt="0"/>
      <dgm:spPr/>
    </dgm:pt>
    <dgm:pt modelId="{50E3A35F-9FA7-498D-A4EA-EBE48FBC0C84}" type="pres">
      <dgm:prSet presAssocID="{30B99841-BAD3-41A4-9BBA-984BD83F90AD}" presName="textRect" presStyleLbl="revTx" presStyleIdx="1" presStyleCnt="3">
        <dgm:presLayoutVars>
          <dgm:chMax val="1"/>
          <dgm:chPref val="1"/>
        </dgm:presLayoutVars>
      </dgm:prSet>
      <dgm:spPr/>
    </dgm:pt>
    <dgm:pt modelId="{69162537-8836-4875-BE4B-398BA842EBEC}" type="pres">
      <dgm:prSet presAssocID="{097DA1C5-FF06-4215-867D-56480F77E862}" presName="sibTrans" presStyleCnt="0"/>
      <dgm:spPr/>
    </dgm:pt>
    <dgm:pt modelId="{7E338574-4DC7-486C-8863-273948F0AC02}" type="pres">
      <dgm:prSet presAssocID="{A97E40FA-3B98-47C6-8FD6-13AD3311389D}" presName="compNode" presStyleCnt="0"/>
      <dgm:spPr/>
    </dgm:pt>
    <dgm:pt modelId="{A7D76EB9-8603-490C-9D0A-A92C53828ED5}" type="pres">
      <dgm:prSet presAssocID="{A97E40FA-3B98-47C6-8FD6-13AD3311389D}" presName="iconBgRect" presStyleLbl="bgShp" presStyleIdx="2" presStyleCnt="3"/>
      <dgm:spPr/>
    </dgm:pt>
    <dgm:pt modelId="{5D39CFF4-2FC7-4C3B-8D79-49ACE31E2D4C}" type="pres">
      <dgm:prSet presAssocID="{A97E40FA-3B98-47C6-8FD6-13AD3311389D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DEC14612-0709-4EB5-8922-D488039D9DB9}" type="pres">
      <dgm:prSet presAssocID="{A97E40FA-3B98-47C6-8FD6-13AD3311389D}" presName="spaceRect" presStyleCnt="0"/>
      <dgm:spPr/>
    </dgm:pt>
    <dgm:pt modelId="{E39B74D3-E76F-4285-9EED-55A7C44C1491}" type="pres">
      <dgm:prSet presAssocID="{A97E40FA-3B98-47C6-8FD6-13AD3311389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EDEE55D-6D49-43BE-BB40-87274D296BBF}" type="presOf" srcId="{30B99841-BAD3-41A4-9BBA-984BD83F90AD}" destId="{50E3A35F-9FA7-498D-A4EA-EBE48FBC0C84}" srcOrd="0" destOrd="0" presId="urn:microsoft.com/office/officeart/2018/5/layout/IconCircleLabelList"/>
    <dgm:cxn modelId="{99F72E69-EBAA-427B-B6A7-6BEB5A3E83C6}" type="presOf" srcId="{5F8DE2E3-4A74-4421-94FF-44EA17C792C3}" destId="{DA720041-3C61-4181-A219-1087041D4433}" srcOrd="0" destOrd="0" presId="urn:microsoft.com/office/officeart/2018/5/layout/IconCircleLabelList"/>
    <dgm:cxn modelId="{D15ADC71-4BA5-45B4-9902-33C6EBA8C708}" type="presOf" srcId="{A97E40FA-3B98-47C6-8FD6-13AD3311389D}" destId="{E39B74D3-E76F-4285-9EED-55A7C44C1491}" srcOrd="0" destOrd="0" presId="urn:microsoft.com/office/officeart/2018/5/layout/IconCircleLabelList"/>
    <dgm:cxn modelId="{1D884D52-41FC-4311-AEB3-1FF6F1593C38}" type="presOf" srcId="{E5152D1D-2482-4620-BE68-2E5175B8BEDB}" destId="{60CC4D21-AF34-4801-AA0D-777E905DF2D9}" srcOrd="0" destOrd="0" presId="urn:microsoft.com/office/officeart/2018/5/layout/IconCircleLabelList"/>
    <dgm:cxn modelId="{86C5C695-589C-42D6-A839-FB554CDB32D0}" srcId="{E5152D1D-2482-4620-BE68-2E5175B8BEDB}" destId="{A97E40FA-3B98-47C6-8FD6-13AD3311389D}" srcOrd="2" destOrd="0" parTransId="{B16659EF-E22C-41F4-982C-38866720C82B}" sibTransId="{61164ECC-4EED-49D8-9ACE-49CBC9E7EB15}"/>
    <dgm:cxn modelId="{1792C3C1-1BC3-4854-BC4F-A83B013BB116}" srcId="{E5152D1D-2482-4620-BE68-2E5175B8BEDB}" destId="{5F8DE2E3-4A74-4421-94FF-44EA17C792C3}" srcOrd="0" destOrd="0" parTransId="{BB80D642-5005-4096-968D-000BE14654FD}" sibTransId="{A0E8E9E1-6821-49B9-A1DB-FA61FE792E37}"/>
    <dgm:cxn modelId="{839651CC-7BB2-43D4-B925-E40F7A213286}" srcId="{E5152D1D-2482-4620-BE68-2E5175B8BEDB}" destId="{30B99841-BAD3-41A4-9BBA-984BD83F90AD}" srcOrd="1" destOrd="0" parTransId="{CE1D0B6D-0828-44FA-B5F7-56D34C25744D}" sibTransId="{097DA1C5-FF06-4215-867D-56480F77E862}"/>
    <dgm:cxn modelId="{7833783C-84D1-495B-9020-A3CAE56A3223}" type="presParOf" srcId="{60CC4D21-AF34-4801-AA0D-777E905DF2D9}" destId="{6C7A00B8-A8D4-4813-B1B6-4DFDB19859ED}" srcOrd="0" destOrd="0" presId="urn:microsoft.com/office/officeart/2018/5/layout/IconCircleLabelList"/>
    <dgm:cxn modelId="{2284D220-0C46-48AC-9F16-09F246CA6AED}" type="presParOf" srcId="{6C7A00B8-A8D4-4813-B1B6-4DFDB19859ED}" destId="{7D4F496D-4AEC-49B3-AA1C-E84994A5B66A}" srcOrd="0" destOrd="0" presId="urn:microsoft.com/office/officeart/2018/5/layout/IconCircleLabelList"/>
    <dgm:cxn modelId="{9F110AE3-3F9C-4B0C-95CE-D04B762499C7}" type="presParOf" srcId="{6C7A00B8-A8D4-4813-B1B6-4DFDB19859ED}" destId="{571691CC-8EE7-4775-8117-8CAEB2B51A9C}" srcOrd="1" destOrd="0" presId="urn:microsoft.com/office/officeart/2018/5/layout/IconCircleLabelList"/>
    <dgm:cxn modelId="{C6A49655-39F3-43E2-B082-C4710FB2006F}" type="presParOf" srcId="{6C7A00B8-A8D4-4813-B1B6-4DFDB19859ED}" destId="{D626E369-3BC7-42CE-952F-612BCFE263F8}" srcOrd="2" destOrd="0" presId="urn:microsoft.com/office/officeart/2018/5/layout/IconCircleLabelList"/>
    <dgm:cxn modelId="{AF99841D-E6DA-4F93-8CE4-6A536A8419F1}" type="presParOf" srcId="{6C7A00B8-A8D4-4813-B1B6-4DFDB19859ED}" destId="{DA720041-3C61-4181-A219-1087041D4433}" srcOrd="3" destOrd="0" presId="urn:microsoft.com/office/officeart/2018/5/layout/IconCircleLabelList"/>
    <dgm:cxn modelId="{B49EB42B-4788-49F4-863F-BD9E73BDC312}" type="presParOf" srcId="{60CC4D21-AF34-4801-AA0D-777E905DF2D9}" destId="{87460D4B-68DC-4625-8323-E0060C3E068F}" srcOrd="1" destOrd="0" presId="urn:microsoft.com/office/officeart/2018/5/layout/IconCircleLabelList"/>
    <dgm:cxn modelId="{A2245BB1-C911-422F-8789-1B9A1AEE29E6}" type="presParOf" srcId="{60CC4D21-AF34-4801-AA0D-777E905DF2D9}" destId="{3BEC4229-9563-4020-8685-9169B0737D8E}" srcOrd="2" destOrd="0" presId="urn:microsoft.com/office/officeart/2018/5/layout/IconCircleLabelList"/>
    <dgm:cxn modelId="{6065F475-36A1-4EEC-97F8-0BDA1D717CDB}" type="presParOf" srcId="{3BEC4229-9563-4020-8685-9169B0737D8E}" destId="{DB7793CC-6926-49EA-A3D8-DE861A2A413F}" srcOrd="0" destOrd="0" presId="urn:microsoft.com/office/officeart/2018/5/layout/IconCircleLabelList"/>
    <dgm:cxn modelId="{AEF0EC5D-2BA6-416A-9E60-4864A0A292B5}" type="presParOf" srcId="{3BEC4229-9563-4020-8685-9169B0737D8E}" destId="{3AD5ACCD-312A-413E-A210-0E7F55699C93}" srcOrd="1" destOrd="0" presId="urn:microsoft.com/office/officeart/2018/5/layout/IconCircleLabelList"/>
    <dgm:cxn modelId="{A8DDA604-EF6E-4CA3-88C2-DC63DDB9B346}" type="presParOf" srcId="{3BEC4229-9563-4020-8685-9169B0737D8E}" destId="{2E53262F-7943-48EF-82FA-8373DB6F4F04}" srcOrd="2" destOrd="0" presId="urn:microsoft.com/office/officeart/2018/5/layout/IconCircleLabelList"/>
    <dgm:cxn modelId="{8DAA12C1-3769-4354-90E5-D38708DFCF7D}" type="presParOf" srcId="{3BEC4229-9563-4020-8685-9169B0737D8E}" destId="{50E3A35F-9FA7-498D-A4EA-EBE48FBC0C84}" srcOrd="3" destOrd="0" presId="urn:microsoft.com/office/officeart/2018/5/layout/IconCircleLabelList"/>
    <dgm:cxn modelId="{BAD07919-9C0E-447A-A267-E0A62D01EF38}" type="presParOf" srcId="{60CC4D21-AF34-4801-AA0D-777E905DF2D9}" destId="{69162537-8836-4875-BE4B-398BA842EBEC}" srcOrd="3" destOrd="0" presId="urn:microsoft.com/office/officeart/2018/5/layout/IconCircleLabelList"/>
    <dgm:cxn modelId="{98A173AF-3C42-4A9A-A5B5-4C1EE0DFA55C}" type="presParOf" srcId="{60CC4D21-AF34-4801-AA0D-777E905DF2D9}" destId="{7E338574-4DC7-486C-8863-273948F0AC02}" srcOrd="4" destOrd="0" presId="urn:microsoft.com/office/officeart/2018/5/layout/IconCircleLabelList"/>
    <dgm:cxn modelId="{A8CFF966-2DAD-41F0-969F-2478CA516FB6}" type="presParOf" srcId="{7E338574-4DC7-486C-8863-273948F0AC02}" destId="{A7D76EB9-8603-490C-9D0A-A92C53828ED5}" srcOrd="0" destOrd="0" presId="urn:microsoft.com/office/officeart/2018/5/layout/IconCircleLabelList"/>
    <dgm:cxn modelId="{ABC736F0-72C7-4935-AB95-989C9FAA0D96}" type="presParOf" srcId="{7E338574-4DC7-486C-8863-273948F0AC02}" destId="{5D39CFF4-2FC7-4C3B-8D79-49ACE31E2D4C}" srcOrd="1" destOrd="0" presId="urn:microsoft.com/office/officeart/2018/5/layout/IconCircleLabelList"/>
    <dgm:cxn modelId="{D0946F7D-6A45-4AC2-AA77-97691A244D24}" type="presParOf" srcId="{7E338574-4DC7-486C-8863-273948F0AC02}" destId="{DEC14612-0709-4EB5-8922-D488039D9DB9}" srcOrd="2" destOrd="0" presId="urn:microsoft.com/office/officeart/2018/5/layout/IconCircleLabelList"/>
    <dgm:cxn modelId="{E1C26C80-0C23-47E6-918C-9677ED866A09}" type="presParOf" srcId="{7E338574-4DC7-486C-8863-273948F0AC02}" destId="{E39B74D3-E76F-4285-9EED-55A7C44C149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4F496D-4AEC-49B3-AA1C-E84994A5B66A}">
      <dsp:nvSpPr>
        <dsp:cNvPr id="0" name=""/>
        <dsp:cNvSpPr/>
      </dsp:nvSpPr>
      <dsp:spPr>
        <a:xfrm>
          <a:off x="635323" y="335558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1691CC-8EE7-4775-8117-8CAEB2B51A9C}">
      <dsp:nvSpPr>
        <dsp:cNvPr id="0" name=""/>
        <dsp:cNvSpPr/>
      </dsp:nvSpPr>
      <dsp:spPr>
        <a:xfrm>
          <a:off x="1052136" y="752371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720041-3C61-4181-A219-1087041D4433}">
      <dsp:nvSpPr>
        <dsp:cNvPr id="0" name=""/>
        <dsp:cNvSpPr/>
      </dsp:nvSpPr>
      <dsp:spPr>
        <a:xfrm>
          <a:off x="10104" y="2900559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/>
            <a:t>Data Cleaning &amp; Preparation :</a:t>
          </a:r>
          <a:r>
            <a:rPr lang="en-US" sz="1200" kern="1200"/>
            <a:t> Imported raw customer database. Initial schema validation and type checking.</a:t>
          </a:r>
          <a:endParaRPr lang="en-US" sz="1200" kern="1200" dirty="0">
            <a:latin typeface="Aptos Display" panose="020F0302020204030204"/>
          </a:endParaRPr>
        </a:p>
      </dsp:txBody>
      <dsp:txXfrm>
        <a:off x="10104" y="2900559"/>
        <a:ext cx="3206250" cy="720000"/>
      </dsp:txXfrm>
    </dsp:sp>
    <dsp:sp modelId="{DB7793CC-6926-49EA-A3D8-DE861A2A413F}">
      <dsp:nvSpPr>
        <dsp:cNvPr id="0" name=""/>
        <dsp:cNvSpPr/>
      </dsp:nvSpPr>
      <dsp:spPr>
        <a:xfrm>
          <a:off x="4402667" y="335558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D5ACCD-312A-413E-A210-0E7F55699C93}">
      <dsp:nvSpPr>
        <dsp:cNvPr id="0" name=""/>
        <dsp:cNvSpPr/>
      </dsp:nvSpPr>
      <dsp:spPr>
        <a:xfrm>
          <a:off x="4819479" y="752371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E3A35F-9FA7-498D-A4EA-EBE48FBC0C84}">
      <dsp:nvSpPr>
        <dsp:cNvPr id="0" name=""/>
        <dsp:cNvSpPr/>
      </dsp:nvSpPr>
      <dsp:spPr>
        <a:xfrm>
          <a:off x="3777448" y="2900559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 dirty="0"/>
            <a:t>Data Cleansing:</a:t>
          </a:r>
          <a:r>
            <a:rPr lang="en-US" sz="1200" kern="1200" dirty="0"/>
            <a:t> Handled missing values, Removed duplicates,  Formatted </a:t>
          </a:r>
          <a:r>
            <a:rPr lang="en-US" sz="1200" kern="1200" dirty="0">
              <a:latin typeface="Aptos Display" panose="020F0302020204030204"/>
            </a:rPr>
            <a:t>Total Charges</a:t>
          </a:r>
          <a:r>
            <a:rPr lang="en-US" sz="1200" kern="1200" dirty="0"/>
            <a:t> .</a:t>
          </a:r>
        </a:p>
      </dsp:txBody>
      <dsp:txXfrm>
        <a:off x="3777448" y="2900559"/>
        <a:ext cx="3206250" cy="720000"/>
      </dsp:txXfrm>
    </dsp:sp>
    <dsp:sp modelId="{A7D76EB9-8603-490C-9D0A-A92C53828ED5}">
      <dsp:nvSpPr>
        <dsp:cNvPr id="0" name=""/>
        <dsp:cNvSpPr/>
      </dsp:nvSpPr>
      <dsp:spPr>
        <a:xfrm>
          <a:off x="8170011" y="335558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39CFF4-2FC7-4C3B-8D79-49ACE31E2D4C}">
      <dsp:nvSpPr>
        <dsp:cNvPr id="0" name=""/>
        <dsp:cNvSpPr/>
      </dsp:nvSpPr>
      <dsp:spPr>
        <a:xfrm>
          <a:off x="8586823" y="752371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9B74D3-E76F-4285-9EED-55A7C44C1491}">
      <dsp:nvSpPr>
        <dsp:cNvPr id="0" name=""/>
        <dsp:cNvSpPr/>
      </dsp:nvSpPr>
      <dsp:spPr>
        <a:xfrm>
          <a:off x="7544792" y="2900559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 dirty="0"/>
            <a:t>Analysis Ready :</a:t>
          </a:r>
          <a:r>
            <a:rPr lang="en-US" sz="1200" kern="1200" dirty="0"/>
            <a:t> Cleaned, validated, and normalized dataset ready for EDA and modeling. </a:t>
          </a:r>
        </a:p>
      </dsp:txBody>
      <dsp:txXfrm>
        <a:off x="7544792" y="2900559"/>
        <a:ext cx="32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ontent.iriss.org.uk/writing-analysis-social-care/recommendation/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hebluediamondgallery.com/wooden-tile/t/thank-you.html" TargetMode="Externa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Picture 19" descr="Desk with productivity items">
            <a:extLst>
              <a:ext uri="{FF2B5EF4-FFF2-40B4-BE49-F238E27FC236}">
                <a16:creationId xmlns:a16="http://schemas.microsoft.com/office/drawing/2014/main" id="{E29AAFEC-4AAF-6949-3E5B-5E01BBD859F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-2" b="15603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22362"/>
            <a:ext cx="10515600" cy="2900518"/>
          </a:xfrm>
        </p:spPr>
        <p:txBody>
          <a:bodyPr>
            <a:normAutofit fontScale="90000"/>
          </a:bodyPr>
          <a:lstStyle/>
          <a:p>
            <a:r>
              <a:rPr lang="en-US" sz="4100" b="1">
                <a:solidFill>
                  <a:srgbClr val="FF0000"/>
                </a:solidFill>
                <a:highlight>
                  <a:srgbClr val="FFFF00"/>
                </a:highlight>
                <a:latin typeface="Times New Roman"/>
                <a:ea typeface="+mj-lt"/>
                <a:cs typeface="Times New Roman"/>
              </a:rPr>
              <a:t>Business Analytics &amp; Predictive Modeling Project</a:t>
            </a:r>
            <a:br>
              <a:rPr lang="en-US" sz="4100" b="1" dirty="0">
                <a:highlight>
                  <a:srgbClr val="FFFF00"/>
                </a:highlight>
                <a:latin typeface="Times New Roman"/>
                <a:ea typeface="+mj-lt"/>
                <a:cs typeface="Times New Roman"/>
              </a:rPr>
            </a:br>
            <a:endParaRPr lang="en-US" sz="4100" b="1">
              <a:solidFill>
                <a:srgbClr val="FF0000"/>
              </a:solidFill>
              <a:highlight>
                <a:srgbClr val="FFFF00"/>
              </a:highlight>
              <a:latin typeface="Times New Roman"/>
              <a:ea typeface="+mj-lt"/>
              <a:cs typeface="Times New Roman"/>
            </a:endParaRPr>
          </a:p>
          <a:p>
            <a:r>
              <a:rPr lang="en-US" sz="4100" b="1">
                <a:solidFill>
                  <a:srgbClr val="FFFF00"/>
                </a:solidFill>
                <a:latin typeface="Poppins"/>
                <a:cs typeface="Poppins"/>
              </a:rPr>
              <a:t>Customer Churn Analysis</a:t>
            </a:r>
            <a:br>
              <a:rPr lang="en-US" sz="4100" b="1" dirty="0">
                <a:solidFill>
                  <a:srgbClr val="FFFF00"/>
                </a:solidFill>
                <a:latin typeface="Poppins"/>
                <a:cs typeface="Poppins"/>
              </a:rPr>
            </a:br>
            <a:r>
              <a:rPr lang="en-US" sz="4100" b="1">
                <a:solidFill>
                  <a:srgbClr val="FFFF00"/>
                </a:solidFill>
                <a:latin typeface="Poppins"/>
                <a:cs typeface="Poppins"/>
              </a:rPr>
              <a:t> &amp; Retention Strategy</a:t>
            </a:r>
            <a:endParaRPr lang="en-US" sz="4100">
              <a:solidFill>
                <a:srgbClr val="FFFF00"/>
              </a:solidFill>
              <a:latin typeface="Poppins"/>
              <a:cs typeface="Poppins"/>
            </a:endParaRPr>
          </a:p>
          <a:p>
            <a:endParaRPr lang="en-US" sz="410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4159404"/>
            <a:ext cx="10515600" cy="10983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Prepared by</a:t>
            </a:r>
          </a:p>
          <a:p>
            <a:r>
              <a:rPr lang="en-US" sz="3200" b="1">
                <a:solidFill>
                  <a:srgbClr val="FFC000"/>
                </a:solidFill>
                <a:latin typeface="Times New Roman"/>
                <a:cs typeface="Times New Roman"/>
              </a:rPr>
              <a:t>MD Afroz Ansari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177DEB-3EDD-7764-BB48-07369DE4D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en-US" sz="3800">
                <a:solidFill>
                  <a:schemeClr val="bg1"/>
                </a:solidFill>
                <a:latin typeface="Times New Roman"/>
                <a:cs typeface="Times New Roman"/>
              </a:rPr>
              <a:t>The Business Problem</a:t>
            </a:r>
          </a:p>
          <a:p>
            <a:endParaRPr lang="en-US" sz="38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99776-38DF-12B1-BA2F-1FDD36CD8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16" y="1909192"/>
            <a:ext cx="5400704" cy="374165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  <a:latin typeface="Aptos"/>
                <a:cs typeface="Segoe UI"/>
              </a:rPr>
              <a:t>Customer churn directly impacts our revenuepredictability and limits long-term business growth.</a:t>
            </a:r>
          </a:p>
          <a:p>
            <a:r>
              <a:rPr lang="en-US" sz="2000">
                <a:solidFill>
                  <a:schemeClr val="bg1"/>
                </a:solidFill>
              </a:rPr>
              <a:t>The company is experiencing a steady loss of customers over time.</a:t>
            </a:r>
          </a:p>
          <a:p>
            <a:r>
              <a:rPr lang="en-US" sz="2000">
                <a:solidFill>
                  <a:schemeClr val="bg1"/>
                </a:solidFill>
              </a:rPr>
              <a:t>We lack visibility into the exact drivers causing customer dissatisfaction.</a:t>
            </a: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There is a critical need to find high-risk accounts and</a:t>
            </a:r>
            <a:endParaRPr lang="en-US" sz="200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deploy targeted retention strategies. </a:t>
            </a:r>
            <a:endParaRPr lang="en-US" sz="2000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7BA8D9C2-CAB7-B076-0B48-C19321B2F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495" y="1915437"/>
            <a:ext cx="5812683" cy="292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439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0394E2-A57D-9065-70CE-68D623BB4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 OBJECTIVES </a:t>
            </a:r>
          </a:p>
        </p:txBody>
      </p:sp>
      <p:pic>
        <p:nvPicPr>
          <p:cNvPr id="4" name="Picture 3" descr="A screenshot of a device&#10;&#10;AI-generated content may be incorrect.">
            <a:extLst>
              <a:ext uri="{FF2B5EF4-FFF2-40B4-BE49-F238E27FC236}">
                <a16:creationId xmlns:a16="http://schemas.microsoft.com/office/drawing/2014/main" id="{E1F00CBF-7F1E-6474-A0E6-5B85192EFF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375" r="-2" b="-2"/>
          <a:stretch>
            <a:fillRect/>
          </a:stretch>
        </p:blipFill>
        <p:spPr>
          <a:xfrm>
            <a:off x="118461" y="1817572"/>
            <a:ext cx="11955077" cy="432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818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CDF46F-52F2-5A9A-2D54-AA5F7A84D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37" y="217644"/>
            <a:ext cx="5233230" cy="993702"/>
          </a:xfrm>
        </p:spPr>
        <p:txBody>
          <a:bodyPr>
            <a:normAutofit/>
          </a:bodyPr>
          <a:lstStyle/>
          <a:p>
            <a:r>
              <a:rPr lang="en-US" b="1" u="sng">
                <a:solidFill>
                  <a:srgbClr val="7030A0"/>
                </a:solidFill>
                <a:latin typeface="Times New Roman"/>
                <a:ea typeface="+mj-lt"/>
                <a:cs typeface="Times New Roman"/>
              </a:rPr>
              <a:t>Dataset Overview </a:t>
            </a:r>
            <a:endParaRPr lang="en-US" b="1" u="sng">
              <a:solidFill>
                <a:srgbClr val="7030A0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CF038-A69B-7E67-254A-18A7FB794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437" y="1211441"/>
            <a:ext cx="5423734" cy="533531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 b="1">
                <a:solidFill>
                  <a:srgbClr val="002060"/>
                </a:solidFill>
                <a:latin typeface="Times New Roman"/>
                <a:cs typeface="Times New Roman"/>
              </a:rPr>
              <a:t>DATA SCALE</a:t>
            </a:r>
          </a:p>
          <a:p>
            <a:pPr>
              <a:buNone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The analysis </a:t>
            </a:r>
            <a:r>
              <a:rPr lang="en-US" sz="2000">
                <a:latin typeface="Times New Roman"/>
                <a:ea typeface="+mn-lt"/>
                <a:cs typeface="Times New Roman"/>
              </a:rPr>
              <a:t>uses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a comprehensive telecom dataset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000">
                <a:latin typeface="Times New Roman"/>
                <a:ea typeface="+mn-lt"/>
                <a:cs typeface="Times New Roman"/>
              </a:rPr>
              <a:t>having historical customer records. 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buNone/>
            </a:pPr>
            <a:endParaRPr lang="en-US" sz="20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0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000" dirty="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400" b="1">
                <a:solidFill>
                  <a:srgbClr val="002060"/>
                </a:solidFill>
                <a:latin typeface="Times New Roman"/>
                <a:cs typeface="Times New Roman"/>
              </a:rPr>
              <a:t>DATA CATEGORIES</a:t>
            </a:r>
          </a:p>
          <a:p>
            <a:pPr>
              <a:buFont typeface="Wingdings" panose="020B0604020202020204" pitchFamily="34" charset="0"/>
              <a:buChar char="ü"/>
            </a:pPr>
            <a:r>
              <a:rPr lang="en-US" sz="2000">
                <a:latin typeface="Times New Roman"/>
                <a:ea typeface="+mn-lt"/>
                <a:cs typeface="Times New Roman"/>
              </a:rPr>
              <a:t>Demographics: Gender, Age, Dependents </a:t>
            </a:r>
          </a:p>
          <a:p>
            <a:pPr>
              <a:buFont typeface="Wingdings" panose="020B0604020202020204" pitchFamily="34" charset="0"/>
              <a:buChar char="ü"/>
            </a:pPr>
            <a:r>
              <a:rPr lang="en-US" sz="2000">
                <a:latin typeface="Times New Roman"/>
                <a:ea typeface="+mn-lt"/>
                <a:cs typeface="Times New Roman"/>
              </a:rPr>
              <a:t>Account Info: Tenure, Contract, Payment Method </a:t>
            </a:r>
          </a:p>
          <a:p>
            <a:pPr>
              <a:buFont typeface="Wingdings" panose="020B0604020202020204" pitchFamily="34" charset="0"/>
              <a:buChar char="ü"/>
            </a:pPr>
            <a:r>
              <a:rPr lang="en-US" sz="2000">
                <a:latin typeface="Times New Roman"/>
                <a:ea typeface="+mn-lt"/>
                <a:cs typeface="Times New Roman"/>
              </a:rPr>
              <a:t>Services: Internet, Phone, Streaming </a:t>
            </a:r>
            <a:endParaRPr lang="en-US" sz="2000" dirty="0">
              <a:latin typeface="Times New Roman"/>
              <a:cs typeface="Times New Roman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CD45CD-DC24-B249-68A7-40EDEF290A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393046"/>
              </p:ext>
            </p:extLst>
          </p:nvPr>
        </p:nvGraphicFramePr>
        <p:xfrm>
          <a:off x="5569323" y="448235"/>
          <a:ext cx="6457306" cy="6250518"/>
        </p:xfrm>
        <a:graphic>
          <a:graphicData uri="http://schemas.openxmlformats.org/drawingml/2006/table">
            <a:tbl>
              <a:tblPr bandRow="1">
                <a:solidFill>
                  <a:schemeClr val="accent1">
                    <a:lumMod val="20000"/>
                    <a:lumOff val="80000"/>
                  </a:schemeClr>
                </a:solidFill>
                <a:tableStyleId>{5C22544A-7EE6-4342-B048-85BDC9FD1C3A}</a:tableStyleId>
              </a:tblPr>
              <a:tblGrid>
                <a:gridCol w="1792941">
                  <a:extLst>
                    <a:ext uri="{9D8B030D-6E8A-4147-A177-3AD203B41FA5}">
                      <a16:colId xmlns:a16="http://schemas.microsoft.com/office/drawing/2014/main" val="2416060094"/>
                    </a:ext>
                  </a:extLst>
                </a:gridCol>
                <a:gridCol w="1879189">
                  <a:extLst>
                    <a:ext uri="{9D8B030D-6E8A-4147-A177-3AD203B41FA5}">
                      <a16:colId xmlns:a16="http://schemas.microsoft.com/office/drawing/2014/main" val="345187510"/>
                    </a:ext>
                  </a:extLst>
                </a:gridCol>
                <a:gridCol w="2785176">
                  <a:extLst>
                    <a:ext uri="{9D8B030D-6E8A-4147-A177-3AD203B41FA5}">
                      <a16:colId xmlns:a16="http://schemas.microsoft.com/office/drawing/2014/main" val="1307958996"/>
                    </a:ext>
                  </a:extLst>
                </a:gridCol>
              </a:tblGrid>
              <a:tr h="540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rgbClr val="FF0000"/>
                          </a:solidFill>
                          <a:effectLst/>
                        </a:rPr>
                        <a:t>Key Variable</a:t>
                      </a:r>
                    </a:p>
                  </a:txBody>
                  <a:tcPr marL="98283" marR="98283" marT="49141" marB="982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rgbClr val="FF0000"/>
                          </a:solidFill>
                          <a:effectLst/>
                        </a:rPr>
                        <a:t>Data Type</a:t>
                      </a:r>
                    </a:p>
                  </a:txBody>
                  <a:tcPr marL="98283" marR="98283" marT="49141" marB="982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rgbClr val="FF0000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98283" marR="98283" marT="49141" marB="982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257765"/>
                  </a:ext>
                </a:extLst>
              </a:tr>
              <a:tr h="540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 dirty="0" err="1">
                          <a:solidFill>
                            <a:schemeClr val="tx1"/>
                          </a:solidFill>
                          <a:effectLst/>
                        </a:rPr>
                        <a:t>CustomerID</a:t>
                      </a:r>
                    </a:p>
                  </a:txBody>
                  <a:tcPr marL="98283" marR="98283" marT="49141" marB="982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Categorical</a:t>
                      </a:r>
                    </a:p>
                  </a:txBody>
                  <a:tcPr marL="98283" marR="98283" marT="49141" marB="982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Unique identifier</a:t>
                      </a:r>
                    </a:p>
                  </a:txBody>
                  <a:tcPr marL="98283" marR="98283" marT="49141" marB="982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575715"/>
                  </a:ext>
                </a:extLst>
              </a:tr>
              <a:tr h="861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Tenure</a:t>
                      </a:r>
                    </a:p>
                  </a:txBody>
                  <a:tcPr marL="98283" marR="98283" marT="49141" marB="982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Numerical</a:t>
                      </a:r>
                    </a:p>
                  </a:txBody>
                  <a:tcPr marL="98283" marR="98283" marT="49141" marB="982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Months with company</a:t>
                      </a:r>
                    </a:p>
                  </a:txBody>
                  <a:tcPr marL="98283" marR="98283" marT="49141" marB="982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6227548"/>
                  </a:ext>
                </a:extLst>
              </a:tr>
              <a:tr h="861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Monthly Charges</a:t>
                      </a:r>
                    </a:p>
                  </a:txBody>
                  <a:tcPr marL="98283" marR="98283" marT="49141" marB="982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Numerical</a:t>
                      </a:r>
                    </a:p>
                  </a:txBody>
                  <a:tcPr marL="98283" marR="98283" marT="49141" marB="982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Current monthly bill</a:t>
                      </a:r>
                    </a:p>
                  </a:txBody>
                  <a:tcPr marL="98283" marR="98283" marT="49141" marB="982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04428"/>
                  </a:ext>
                </a:extLst>
              </a:tr>
              <a:tr h="861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Total Charges</a:t>
                      </a:r>
                    </a:p>
                  </a:txBody>
                  <a:tcPr marL="98283" marR="98283" marT="49141" marB="982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Numerical</a:t>
                      </a:r>
                    </a:p>
                  </a:txBody>
                  <a:tcPr marL="98283" marR="98283" marT="49141" marB="982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Lifetime value billed</a:t>
                      </a:r>
                    </a:p>
                  </a:txBody>
                  <a:tcPr marL="98283" marR="98283" marT="49141" marB="982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1634226"/>
                  </a:ext>
                </a:extLst>
              </a:tr>
              <a:tr h="861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Contract</a:t>
                      </a:r>
                    </a:p>
                  </a:txBody>
                  <a:tcPr marL="98283" marR="98283" marT="49141" marB="982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Categorical</a:t>
                      </a:r>
                    </a:p>
                  </a:txBody>
                  <a:tcPr marL="98283" marR="98283" marT="49141" marB="982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Term (Mo-to-Mo, 1 Yr, 2 Yr)</a:t>
                      </a:r>
                    </a:p>
                  </a:txBody>
                  <a:tcPr marL="98283" marR="98283" marT="49141" marB="982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900758"/>
                  </a:ext>
                </a:extLst>
              </a:tr>
              <a:tr h="861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Payment Method</a:t>
                      </a:r>
                    </a:p>
                  </a:txBody>
                  <a:tcPr marL="98283" marR="98283" marT="49141" marB="982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Categorical</a:t>
                      </a:r>
                    </a:p>
                  </a:txBody>
                  <a:tcPr marL="98283" marR="98283" marT="49141" marB="982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Billing medium</a:t>
                      </a:r>
                    </a:p>
                  </a:txBody>
                  <a:tcPr marL="98283" marR="98283" marT="49141" marB="982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694357"/>
                  </a:ext>
                </a:extLst>
              </a:tr>
              <a:tr h="861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Churn</a:t>
                      </a:r>
                    </a:p>
                  </a:txBody>
                  <a:tcPr marL="98283" marR="98283" marT="49141" marB="982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rgbClr val="00B050"/>
                          </a:solidFill>
                          <a:effectLst/>
                        </a:rPr>
                        <a:t>Target (Binary)</a:t>
                      </a:r>
                    </a:p>
                  </a:txBody>
                  <a:tcPr marL="98283" marR="98283" marT="49141" marB="982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Yes/No</a:t>
                      </a:r>
                    </a:p>
                  </a:txBody>
                  <a:tcPr marL="98283" marR="98283" marT="49141" marB="982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537842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FD12C5D-AFBD-D493-8232-8FDC2957EC59}"/>
              </a:ext>
            </a:extLst>
          </p:cNvPr>
          <p:cNvSpPr/>
          <p:nvPr/>
        </p:nvSpPr>
        <p:spPr>
          <a:xfrm>
            <a:off x="249117" y="2791848"/>
            <a:ext cx="1764115" cy="7840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rgbClr val="FFFF00"/>
                </a:solidFill>
              </a:rPr>
              <a:t>7000+ </a:t>
            </a:r>
          </a:p>
          <a:p>
            <a:pPr algn="ctr"/>
            <a:r>
              <a:rPr lang="en-US" dirty="0"/>
              <a:t>Total </a:t>
            </a:r>
            <a:r>
              <a:rPr lang="en-US"/>
              <a:t>Record's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8B29B9E-C355-1CEE-1790-2C0E26BFAA1F}"/>
              </a:ext>
            </a:extLst>
          </p:cNvPr>
          <p:cNvSpPr/>
          <p:nvPr/>
        </p:nvSpPr>
        <p:spPr>
          <a:xfrm>
            <a:off x="2467882" y="2791848"/>
            <a:ext cx="1764115" cy="7840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rgbClr val="FFFF00"/>
                </a:solidFill>
              </a:rPr>
              <a:t>21 </a:t>
            </a:r>
          </a:p>
          <a:p>
            <a:pPr algn="ctr"/>
            <a:r>
              <a:rPr lang="en-US"/>
              <a:t>Features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971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FC79AF-3020-860E-0F65-FE0006438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088" y="565739"/>
            <a:ext cx="9745883" cy="1124949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/>
                <a:ea typeface="+mj-lt"/>
                <a:cs typeface="Times New Roman"/>
              </a:rPr>
              <a:t>Data Cleaning &amp; Preparation 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D42DD4-86F6-4FD2-869F-32D35E310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81037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C36B8C5-0DEB-41B5-911D-572E2E835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16069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DC987A-A8C7-4C23-9BF5-33E9F6F21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6766" y="2256427"/>
            <a:ext cx="10855283" cy="3963398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13F2CF-C6DF-4CE1-A6F0-E3B1BFBB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256427"/>
            <a:ext cx="10853849" cy="3955009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325C15-4820-4911-B66E-A5F917CFA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5106" y="2125615"/>
            <a:ext cx="10855283" cy="397476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615B7F-CB6B-F91C-18FD-099655F1F9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5421467"/>
              </p:ext>
            </p:extLst>
          </p:nvPr>
        </p:nvGraphicFramePr>
        <p:xfrm>
          <a:off x="832734" y="2248153"/>
          <a:ext cx="10761147" cy="39561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0536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2E2853-6F58-F13C-DE3C-F16ACF78B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762" y="667926"/>
            <a:ext cx="6847534" cy="808116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/>
                <a:ea typeface="+mj-lt"/>
                <a:cs typeface="Times New Roman"/>
              </a:rPr>
              <a:t>Customer Churn Distribution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25A44-1916-B044-C6E9-07CC2FC50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044" y="1804808"/>
            <a:ext cx="5672101" cy="361639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FFFF00"/>
                </a:solidFill>
                <a:latin typeface="Times New Roman"/>
                <a:ea typeface="+mn-lt"/>
                <a:cs typeface="Times New Roman"/>
              </a:rPr>
              <a:t>KEY INSIGHTS </a:t>
            </a:r>
            <a:endParaRPr lang="en-US" sz="1800" b="1">
              <a:solidFill>
                <a:srgbClr val="FFFF00"/>
              </a:solidFill>
              <a:latin typeface="Times New Roman"/>
              <a:cs typeface="Times New Roman"/>
            </a:endParaRPr>
          </a:p>
          <a:p>
            <a:r>
              <a:rPr lang="en-US" sz="180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Approximately 26.5% of customers in the dataset have </a:t>
            </a:r>
            <a:endParaRPr lang="en-US" sz="18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r>
              <a:rPr lang="en-US" sz="180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Churned. </a:t>
            </a:r>
            <a:endParaRPr lang="en-US" sz="18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r>
              <a:rPr lang="en-US" sz="1800" dirty="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Most customers (73.5%) were successfully retained. </a:t>
            </a:r>
            <a:endParaRPr lang="en-US" sz="18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r>
              <a:rPr lang="en-US" sz="1800" dirty="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Despite being the minority, the churn volume represents a substantial risk.</a:t>
            </a:r>
          </a:p>
          <a:p>
            <a:endParaRPr lang="en-US" sz="18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1800" b="1">
                <a:solidFill>
                  <a:srgbClr val="FFFF00"/>
                </a:solidFill>
                <a:latin typeface="Times New Roman"/>
                <a:ea typeface="+mn-lt"/>
                <a:cs typeface="Times New Roman"/>
              </a:rPr>
              <a:t>BUSINESS IMPACT </a:t>
            </a:r>
          </a:p>
          <a:p>
            <a:pPr marL="285750" indent="-285750"/>
            <a:r>
              <a:rPr lang="en-US" sz="180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Immediate Revenue Loss Risk </a:t>
            </a:r>
            <a:endParaRPr lang="en-US" sz="1800" dirty="0">
              <a:solidFill>
                <a:schemeClr val="bg1"/>
              </a:solidFill>
              <a:latin typeface="Times New Roman"/>
              <a:ea typeface="+mn-lt"/>
              <a:cs typeface="Times New Roman"/>
            </a:endParaRPr>
          </a:p>
          <a:p>
            <a:pPr marL="285750" indent="-285750"/>
            <a:r>
              <a:rPr lang="en-US" sz="180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A baseline churn rate over 20% requires immediate, proactive retention strategies to stabilize MRR. </a:t>
            </a:r>
            <a:endParaRPr lang="en-US" sz="1800" dirty="0">
              <a:solidFill>
                <a:schemeClr val="bg1"/>
              </a:solidFill>
              <a:latin typeface="Times New Roman"/>
              <a:ea typeface="+mn-lt"/>
              <a:cs typeface="Times New Roman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blue bar graph with white text&#10;&#10;AI-generated content may be incorrect.">
            <a:extLst>
              <a:ext uri="{FF2B5EF4-FFF2-40B4-BE49-F238E27FC236}">
                <a16:creationId xmlns:a16="http://schemas.microsoft.com/office/drawing/2014/main" id="{36076BF9-0C11-87E9-F9E0-B9D0FE6552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08" t="-1037" r="-805" b="207"/>
          <a:stretch>
            <a:fillRect/>
          </a:stretch>
        </p:blipFill>
        <p:spPr>
          <a:xfrm>
            <a:off x="6316686" y="1717934"/>
            <a:ext cx="5666547" cy="392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001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8" name="Rectangle 36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0AE451-670C-F4F3-69F7-596C963E0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597" y="243012"/>
            <a:ext cx="6447381" cy="916344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/>
                <a:ea typeface="+mj-lt"/>
                <a:cs typeface="Times New Roman"/>
              </a:rPr>
              <a:t>Tenure vs Churn Analysis </a:t>
            </a:r>
            <a:endParaRPr lang="en-US">
              <a:solidFill>
                <a:schemeClr val="accent4">
                  <a:lumMod val="40000"/>
                  <a:lumOff val="6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38EC9-71D6-2D1E-7678-55FDC7017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159" y="1465825"/>
            <a:ext cx="5413983" cy="46254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>
                <a:solidFill>
                  <a:srgbClr val="FFFF00">
                    <a:alpha val="80000"/>
                  </a:srgbClr>
                </a:solidFill>
                <a:latin typeface="Times New Roman"/>
                <a:ea typeface="+mn-lt"/>
                <a:cs typeface="Times New Roman"/>
              </a:rPr>
              <a:t>Key Insights:</a:t>
            </a:r>
            <a:endParaRPr lang="en-US" sz="1800">
              <a:solidFill>
                <a:srgbClr val="FFFF00">
                  <a:alpha val="80000"/>
                </a:srgbClr>
              </a:solidFill>
              <a:latin typeface="Times New Roman"/>
              <a:cs typeface="Times New Roman"/>
            </a:endParaRPr>
          </a:p>
          <a:p>
            <a:r>
              <a:rPr lang="en-US" sz="1800">
                <a:solidFill>
                  <a:schemeClr val="bg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Short-tenure customers show the highest probability of churning.</a:t>
            </a:r>
            <a:endParaRPr lang="en-US" sz="1800" dirty="0">
              <a:solidFill>
                <a:schemeClr val="bg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800">
                <a:solidFill>
                  <a:schemeClr val="bg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Long-term customers display significantly higher loyalty and lower churn rates.</a:t>
            </a:r>
            <a:endParaRPr lang="en-US" sz="1800" dirty="0">
              <a:solidFill>
                <a:schemeClr val="bg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800">
                <a:solidFill>
                  <a:schemeClr val="bg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The critical drop-off period occurs within the first 6 to 12 months.</a:t>
            </a:r>
          </a:p>
          <a:p>
            <a:endParaRPr lang="en-US" sz="1800" dirty="0">
              <a:solidFill>
                <a:schemeClr val="bg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1800">
                <a:solidFill>
                  <a:srgbClr val="FFFF00">
                    <a:alpha val="80000"/>
                  </a:srgbClr>
                </a:solidFill>
                <a:latin typeface="Times New Roman"/>
                <a:ea typeface="+mn-lt"/>
                <a:cs typeface="Times New Roman"/>
              </a:rPr>
              <a:t>Business Recommendation:</a:t>
            </a:r>
            <a:endParaRPr lang="en-US" sz="1800">
              <a:solidFill>
                <a:srgbClr val="FFFF00">
                  <a:alpha val="80000"/>
                </a:srgbClr>
              </a:solidFill>
              <a:latin typeface="Times New Roman"/>
              <a:cs typeface="Times New Roman"/>
            </a:endParaRPr>
          </a:p>
          <a:p>
            <a:r>
              <a:rPr lang="en-US" sz="1800">
                <a:solidFill>
                  <a:schemeClr val="bg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Focus on Early-Stage Experience</a:t>
            </a:r>
            <a:endParaRPr lang="en-US" sz="1800" dirty="0">
              <a:solidFill>
                <a:schemeClr val="bg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800">
                <a:solidFill>
                  <a:schemeClr val="bg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Retention efforts and onboarding support must be heavily prioritized for first-year customers to build long-term loyalty.</a:t>
            </a:r>
            <a:endParaRPr lang="en-US" sz="1800" dirty="0">
              <a:solidFill>
                <a:schemeClr val="bg1">
                  <a:alpha val="80000"/>
                </a:schemeClr>
              </a:solidFill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3CA631-D19B-1976-9D5D-9595A4D0A0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4"/>
          <a:stretch>
            <a:fillRect/>
          </a:stretch>
        </p:blipFill>
        <p:spPr>
          <a:xfrm>
            <a:off x="6095999" y="1458948"/>
            <a:ext cx="5260976" cy="4631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086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7825A1-C255-32B5-22D5-1036E89C1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542" y="211697"/>
            <a:ext cx="7783490" cy="916344"/>
          </a:xfrm>
        </p:spPr>
        <p:txBody>
          <a:bodyPr anchor="t">
            <a:normAutofit/>
          </a:bodyPr>
          <a:lstStyle/>
          <a:p>
            <a:r>
              <a:rPr lang="en-US" sz="4000" b="1" u="sng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/>
                <a:ea typeface="+mj-lt"/>
                <a:cs typeface="Times New Roman"/>
              </a:rPr>
              <a:t>Contract Type Analysis</a:t>
            </a:r>
            <a:endParaRPr lang="en-US" sz="4000" b="1" u="sng">
              <a:solidFill>
                <a:schemeClr val="accent4">
                  <a:lumMod val="60000"/>
                  <a:lumOff val="4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32B32-9490-1374-F961-7E9B47CFE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43" y="1131798"/>
            <a:ext cx="5320038" cy="44689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FFFF00">
                    <a:alpha val="80000"/>
                  </a:srgbClr>
                </a:solidFill>
                <a:latin typeface="Times New Roman"/>
                <a:ea typeface="+mn-lt"/>
                <a:cs typeface="Times New Roman"/>
              </a:rPr>
              <a:t>Key Insights:</a:t>
            </a:r>
            <a:endParaRPr lang="en-US" sz="1800" b="1">
              <a:solidFill>
                <a:srgbClr val="FFFF00">
                  <a:alpha val="80000"/>
                </a:srgbClr>
              </a:solidFill>
              <a:latin typeface="Times New Roman"/>
              <a:cs typeface="Times New Roman"/>
            </a:endParaRPr>
          </a:p>
          <a:p>
            <a:r>
              <a:rPr lang="en-US" sz="1800">
                <a:solidFill>
                  <a:schemeClr val="bg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Month-to-month customers show a disproportionately high churn rate.</a:t>
            </a:r>
            <a:endParaRPr lang="en-US" sz="1800">
              <a:solidFill>
                <a:schemeClr val="bg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800">
                <a:solidFill>
                  <a:schemeClr val="bg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1-Year and 2-Year contracts drastically improve retention metrics.</a:t>
            </a:r>
            <a:endParaRPr lang="en-US" sz="1800">
              <a:solidFill>
                <a:schemeClr val="bg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800">
                <a:solidFill>
                  <a:schemeClr val="bg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Contract structure is a primary behavioral indicator of future loyalty.</a:t>
            </a:r>
            <a:endParaRPr lang="en-US" sz="1800">
              <a:solidFill>
                <a:schemeClr val="bg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endParaRPr lang="en-US" sz="1800" dirty="0">
              <a:solidFill>
                <a:schemeClr val="bg1">
                  <a:alpha val="80000"/>
                </a:schemeClr>
              </a:solidFill>
              <a:latin typeface="Times New Roman"/>
              <a:ea typeface="+mn-lt"/>
              <a:cs typeface="Times New Roman"/>
            </a:endParaRPr>
          </a:p>
          <a:p>
            <a:pPr marL="0" indent="0">
              <a:buNone/>
            </a:pPr>
            <a:r>
              <a:rPr lang="en-US" sz="1800" b="1">
                <a:solidFill>
                  <a:srgbClr val="FFFF00">
                    <a:alpha val="80000"/>
                  </a:srgbClr>
                </a:solidFill>
                <a:latin typeface="Times New Roman"/>
                <a:ea typeface="+mn-lt"/>
                <a:cs typeface="Times New Roman"/>
              </a:rPr>
              <a:t>Business Recommendation</a:t>
            </a:r>
            <a:endParaRPr lang="en-US" sz="1800" b="1">
              <a:solidFill>
                <a:srgbClr val="FFFF00">
                  <a:alpha val="80000"/>
                </a:srgbClr>
              </a:solidFill>
              <a:latin typeface="Times New Roman"/>
              <a:cs typeface="Times New Roman"/>
            </a:endParaRPr>
          </a:p>
          <a:p>
            <a:r>
              <a:rPr lang="en-US" sz="1800">
                <a:solidFill>
                  <a:schemeClr val="bg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Incentivize Annual Subscriptions</a:t>
            </a:r>
            <a:endParaRPr lang="en-US" sz="1800">
              <a:solidFill>
                <a:schemeClr val="bg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800">
                <a:solidFill>
                  <a:schemeClr val="bg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Deploy promotional pricing or exclusive features to migrate month-to-month users onto stable, long-term contracts.</a:t>
            </a:r>
            <a:endParaRPr lang="en-US" sz="1800">
              <a:solidFill>
                <a:schemeClr val="bg1">
                  <a:alpha val="80000"/>
                </a:schemeClr>
              </a:solidFill>
              <a:latin typeface="Times New Roman"/>
              <a:cs typeface="Times New Roman"/>
            </a:endParaRPr>
          </a:p>
        </p:txBody>
      </p:sp>
      <p:pic>
        <p:nvPicPr>
          <p:cNvPr id="4" name="Picture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E1948712-8290-8545-CD73-B29B437B2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8163" y="1231159"/>
            <a:ext cx="6000153" cy="4669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738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A66566-4B3C-5982-8019-AD707231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90" y="219077"/>
            <a:ext cx="9801588" cy="839431"/>
          </a:xfrm>
        </p:spPr>
        <p:txBody>
          <a:bodyPr anchor="b">
            <a:normAutofit/>
          </a:bodyPr>
          <a:lstStyle/>
          <a:p>
            <a:r>
              <a:rPr lang="en-US" sz="3800" b="1" u="sng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/>
                <a:ea typeface="+mj-lt"/>
                <a:cs typeface="Times New Roman"/>
              </a:rPr>
              <a:t>Correlation Heatmap Analysis</a:t>
            </a:r>
            <a:endParaRPr lang="en-US" sz="3800" b="1" u="sng">
              <a:solidFill>
                <a:schemeClr val="accent4">
                  <a:lumMod val="60000"/>
                  <a:lumOff val="40000"/>
                </a:schemeClr>
              </a:solidFill>
              <a:latin typeface="Times New Roman"/>
              <a:cs typeface="Times New Roman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151AD-1B47-BF4C-7161-7D03EA7CF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605" y="1804810"/>
            <a:ext cx="5682538" cy="38564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>
                <a:solidFill>
                  <a:srgbClr val="FFFF00"/>
                </a:solidFill>
                <a:latin typeface="Times New Roman"/>
                <a:cs typeface="Times New Roman"/>
              </a:rPr>
              <a:t>Executive Insights: 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 sz="2000">
                <a:solidFill>
                  <a:srgbClr val="92D050"/>
                </a:solidFill>
                <a:latin typeface="Times New Roman"/>
                <a:cs typeface="Times New Roman"/>
              </a:rPr>
              <a:t> Tenure Correlation (-0.35)</a:t>
            </a:r>
          </a:p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  <a:latin typeface="Times New Roman"/>
                <a:cs typeface="Times New Roman"/>
              </a:rPr>
              <a:t>Tenure is strongly negatively correlated with churn, confirming loyalty increases over time.</a:t>
            </a:r>
            <a:endParaRPr lang="en-US" sz="20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 sz="2000">
                <a:solidFill>
                  <a:srgbClr val="92D050"/>
                </a:solidFill>
                <a:latin typeface="Times New Roman"/>
                <a:cs typeface="Times New Roman"/>
              </a:rPr>
              <a:t> Monthly Charges (+0.19)</a:t>
            </a:r>
          </a:p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  <a:latin typeface="Times New Roman"/>
                <a:cs typeface="Times New Roman"/>
              </a:rPr>
              <a:t>Higher monthly charges slightly increase the probability of churn, showing price sensitivity.</a:t>
            </a:r>
            <a:endParaRPr lang="en-US" sz="20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 sz="2000">
                <a:solidFill>
                  <a:srgbClr val="92D050"/>
                </a:solidFill>
                <a:latin typeface="Times New Roman"/>
                <a:cs typeface="Times New Roman"/>
              </a:rPr>
              <a:t> Contract Duration</a:t>
            </a:r>
          </a:p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  <a:latin typeface="Times New Roman"/>
                <a:cs typeface="Times New Roman"/>
              </a:rPr>
              <a:t>Long-term contracts show strong negative correlation with churn, acting as a retention anchor.</a:t>
            </a:r>
            <a:endParaRPr lang="en-US" sz="20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Ø"/>
            </a:pPr>
            <a:endParaRPr lang="en-US" sz="20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diagram of a heatmap&#10;&#10;AI-generated content may be incorrect.">
            <a:extLst>
              <a:ext uri="{FF2B5EF4-FFF2-40B4-BE49-F238E27FC236}">
                <a16:creationId xmlns:a16="http://schemas.microsoft.com/office/drawing/2014/main" id="{84987614-3977-D8C2-BD0D-EB0A1D3BD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480" y="1055387"/>
            <a:ext cx="5843999" cy="507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35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07E19F-4719-EF43-51A3-1A9E839D7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49" y="180382"/>
            <a:ext cx="7679106" cy="905905"/>
          </a:xfrm>
        </p:spPr>
        <p:txBody>
          <a:bodyPr anchor="t">
            <a:normAutofit/>
          </a:bodyPr>
          <a:lstStyle/>
          <a:p>
            <a:r>
              <a:rPr lang="en-US" b="1" u="sng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/>
                <a:cs typeface="Times New Roman"/>
              </a:rPr>
              <a:t>Predictive Modeling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C46A3-2DC9-1B75-DC88-41913E022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50" y="1183990"/>
            <a:ext cx="5372228" cy="48759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sz="2000">
                <a:solidFill>
                  <a:srgbClr val="FFFF00">
                    <a:alpha val="80000"/>
                  </a:srgbClr>
                </a:solidFill>
                <a:latin typeface="Times New Roman"/>
                <a:cs typeface="Times New Roman"/>
              </a:rPr>
              <a:t>Machine Learning Approach:</a:t>
            </a:r>
            <a:r>
              <a:rPr lang="en-US" sz="2000">
                <a:solidFill>
                  <a:schemeClr val="bg1">
                    <a:alpha val="80000"/>
                  </a:schemeClr>
                </a:solidFill>
                <a:latin typeface="Times New Roman"/>
                <a:cs typeface="Times New Roman"/>
              </a:rPr>
              <a:t> Implemented Logistic Regression to predict binary churn outcomes based on historical feature inputs.</a:t>
            </a:r>
            <a:endParaRPr lang="en-US" sz="2000" dirty="0">
              <a:solidFill>
                <a:srgbClr val="FFFFFF">
                  <a:alpha val="80000"/>
                </a:srgbClr>
              </a:solidFill>
              <a:latin typeface="Times New Roman"/>
              <a:cs typeface="Times New Roman"/>
            </a:endParaRPr>
          </a:p>
          <a:p>
            <a:pPr marL="0" indent="0" algn="just">
              <a:buNone/>
            </a:pPr>
            <a:endParaRPr lang="en-US" sz="2000" dirty="0">
              <a:solidFill>
                <a:srgbClr val="FFFFFF">
                  <a:alpha val="80000"/>
                </a:srgbClr>
              </a:solidFill>
              <a:latin typeface="Times New Roman"/>
              <a:cs typeface="Times New Roman"/>
            </a:endParaRPr>
          </a:p>
          <a:p>
            <a:pPr marL="0" indent="0" algn="just">
              <a:buNone/>
            </a:pPr>
            <a:r>
              <a:rPr lang="en-US" sz="200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/>
                <a:cs typeface="Times New Roman"/>
              </a:rPr>
              <a:t>Train / Test Split:</a:t>
            </a:r>
          </a:p>
          <a:p>
            <a:pPr marL="0" indent="0" algn="just">
              <a:buNone/>
            </a:pPr>
            <a:r>
              <a:rPr lang="en-US" sz="2000">
                <a:solidFill>
                  <a:schemeClr val="bg1">
                    <a:alpha val="80000"/>
                  </a:schemeClr>
                </a:solidFill>
                <a:latin typeface="Times New Roman"/>
                <a:cs typeface="Times New Roman"/>
              </a:rPr>
              <a:t>80% Training Data | 20% Evaluation Data</a:t>
            </a:r>
            <a:endParaRPr lang="en-US" sz="2000" dirty="0">
              <a:solidFill>
                <a:srgbClr val="FFFFFF">
                  <a:alpha val="80000"/>
                </a:srgbClr>
              </a:solidFill>
              <a:latin typeface="Times New Roman"/>
              <a:cs typeface="Times New Roman"/>
            </a:endParaRPr>
          </a:p>
          <a:p>
            <a:pPr marL="0" indent="0" algn="just">
              <a:buNone/>
            </a:pPr>
            <a:r>
              <a:rPr lang="en-US" sz="200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/>
                <a:cs typeface="Times New Roman"/>
              </a:rPr>
              <a:t>Model Training:</a:t>
            </a:r>
          </a:p>
          <a:p>
            <a:pPr marL="0" indent="0" algn="just">
              <a:buNone/>
            </a:pPr>
            <a:r>
              <a:rPr lang="en-US" sz="2000">
                <a:solidFill>
                  <a:schemeClr val="bg1">
                    <a:alpha val="80000"/>
                  </a:schemeClr>
                </a:solidFill>
                <a:latin typeface="Times New Roman"/>
                <a:cs typeface="Times New Roman"/>
              </a:rPr>
              <a:t>Logistic Regression / Random Forest fitted</a:t>
            </a:r>
            <a:endParaRPr lang="en-US" sz="2000" dirty="0">
              <a:solidFill>
                <a:srgbClr val="FFFFFF">
                  <a:alpha val="80000"/>
                </a:srgbClr>
              </a:solidFill>
              <a:latin typeface="Times New Roman"/>
              <a:cs typeface="Times New Roman"/>
            </a:endParaRPr>
          </a:p>
          <a:p>
            <a:pPr marL="0" indent="0" algn="just">
              <a:buNone/>
            </a:pPr>
            <a:r>
              <a:rPr lang="en-US" sz="200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/>
                <a:cs typeface="Times New Roman"/>
              </a:rPr>
              <a:t>Evaluation:</a:t>
            </a:r>
          </a:p>
          <a:p>
            <a:pPr marL="0" indent="0" algn="just">
              <a:buNone/>
            </a:pPr>
            <a:r>
              <a:rPr lang="en-US" sz="2000">
                <a:solidFill>
                  <a:schemeClr val="bg1">
                    <a:alpha val="80000"/>
                  </a:schemeClr>
                </a:solidFill>
                <a:latin typeface="Times New Roman"/>
                <a:cs typeface="Times New Roman"/>
              </a:rPr>
              <a:t>Measuring Accuracy, Precision, and Recall</a:t>
            </a:r>
            <a:endParaRPr lang="en-US" sz="2000" dirty="0">
              <a:solidFill>
                <a:srgbClr val="FFFFFF">
                  <a:alpha val="80000"/>
                </a:srgbClr>
              </a:solidFill>
              <a:latin typeface="Times New Roman"/>
              <a:cs typeface="Times New Roman"/>
            </a:endParaRPr>
          </a:p>
          <a:p>
            <a:pPr marL="0" indent="0" algn="just">
              <a:buNone/>
            </a:pPr>
            <a:endParaRPr lang="en-US" sz="2000" dirty="0">
              <a:solidFill>
                <a:srgbClr val="FFFFFF">
                  <a:alpha val="80000"/>
                </a:srgbClr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44E3F87-3D58-4B03-86B2-15A5C5B9C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0" y="841376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4D09509-F6FC-47A6-B196-CCCFD8E83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A5B9D66-192D-4F12-964D-2B23A1D27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C9C14E68-C469-4A71-AF08-169DB545FC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2C18990-7F62-45E8-B68F-47E95E481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AC206BB2-3759-4DF0-9932-7445B6367A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381FA6FA-3CB6-4F57-8871-82DDE5BE8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4" name="Picture 3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BD2066B3-DBDD-4294-D758-7A9DE9AE1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404" y="1653546"/>
            <a:ext cx="5262167" cy="3908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438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B4D72B-76A1-7C40-527B-8877223EC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8767" y="129324"/>
            <a:ext cx="5535585" cy="1273429"/>
          </a:xfrm>
        </p:spPr>
        <p:txBody>
          <a:bodyPr anchor="b">
            <a:normAutofit/>
          </a:bodyPr>
          <a:lstStyle/>
          <a:p>
            <a:r>
              <a:rPr lang="en-US" sz="3600" b="1" u="sng">
                <a:solidFill>
                  <a:srgbClr val="7030A0"/>
                </a:solidFill>
                <a:latin typeface="Times New Roman"/>
                <a:cs typeface="Times New Roman"/>
              </a:rPr>
              <a:t>Feature Importance Analysis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aph with blue squares&#10;&#10;AI-generated content may be incorrect.">
            <a:extLst>
              <a:ext uri="{FF2B5EF4-FFF2-40B4-BE49-F238E27FC236}">
                <a16:creationId xmlns:a16="http://schemas.microsoft.com/office/drawing/2014/main" id="{8DC25D2E-18BD-2CCA-A05C-2C9BD1BC5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86" y="990367"/>
            <a:ext cx="6170810" cy="462351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C7D28-7678-F4DB-25B1-DE2F7BFF0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8766" y="2072856"/>
            <a:ext cx="5556463" cy="393991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0070C0"/>
                </a:solidFill>
                <a:latin typeface="Times New Roman"/>
                <a:cs typeface="Times New Roman"/>
              </a:rPr>
              <a:t>Key Predictive Drivers</a:t>
            </a:r>
          </a:p>
          <a:p>
            <a:pPr marL="457200" indent="-457200"/>
            <a:r>
              <a:rPr lang="en-US" sz="1800" b="1">
                <a:latin typeface="Times New Roman"/>
                <a:cs typeface="Times New Roman"/>
              </a:rPr>
              <a:t>Tenure </a:t>
            </a:r>
            <a:r>
              <a:rPr lang="en-US" sz="1800">
                <a:latin typeface="Times New Roman"/>
                <a:cs typeface="Times New Roman"/>
              </a:rPr>
              <a:t>acts as the strongest overall predictor of customer retention.</a:t>
            </a:r>
            <a:endParaRPr lang="en-US" sz="1800" dirty="0">
              <a:latin typeface="Times New Roman"/>
              <a:cs typeface="Times New Roman"/>
            </a:endParaRPr>
          </a:p>
          <a:p>
            <a:pPr marL="457200" indent="-457200"/>
            <a:r>
              <a:rPr lang="en-US" sz="1800" b="1">
                <a:latin typeface="Times New Roman"/>
                <a:cs typeface="Times New Roman"/>
              </a:rPr>
              <a:t>Contract </a:t>
            </a:r>
            <a:r>
              <a:rPr lang="en-US" sz="1800">
                <a:latin typeface="Times New Roman"/>
                <a:cs typeface="Times New Roman"/>
              </a:rPr>
              <a:t>Type heavily influences whether a customer will leave.</a:t>
            </a:r>
            <a:endParaRPr lang="en-US" sz="1800" dirty="0">
              <a:latin typeface="Times New Roman"/>
              <a:cs typeface="Times New Roman"/>
            </a:endParaRPr>
          </a:p>
          <a:p>
            <a:pPr marL="457200" indent="-457200"/>
            <a:r>
              <a:rPr lang="en-US" sz="1800" b="1">
                <a:latin typeface="Times New Roman"/>
                <a:cs typeface="Times New Roman"/>
              </a:rPr>
              <a:t>Monthly Charges</a:t>
            </a:r>
            <a:r>
              <a:rPr lang="en-US" sz="1800">
                <a:latin typeface="Times New Roman"/>
                <a:cs typeface="Times New Roman"/>
              </a:rPr>
              <a:t> drive price-sensitive churn behavior.</a:t>
            </a:r>
            <a:endParaRPr lang="en-US" sz="18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800" b="1">
                <a:solidFill>
                  <a:srgbClr val="0070C0"/>
                </a:solidFill>
                <a:latin typeface="Times New Roman"/>
                <a:cs typeface="Times New Roman"/>
              </a:rPr>
              <a:t>Business Value Delivered</a:t>
            </a:r>
          </a:p>
          <a:p>
            <a:pPr marL="0" indent="0">
              <a:buNone/>
            </a:pPr>
            <a:r>
              <a:rPr lang="en-US" sz="1800" b="1">
                <a:latin typeface="Times New Roman"/>
                <a:cs typeface="Times New Roman"/>
              </a:rPr>
              <a:t>Predictive Targeted Interventions</a:t>
            </a:r>
          </a:p>
          <a:p>
            <a:pPr marL="0" indent="0">
              <a:buNone/>
            </a:pPr>
            <a:r>
              <a:rPr lang="en-US" sz="1800">
                <a:latin typeface="Times New Roman"/>
                <a:cs typeface="Times New Roman"/>
              </a:rPr>
              <a:t>By understanding feature importance, the business can deploy algorithms to flag high-risk customers in real-time before they cancel.</a:t>
            </a:r>
            <a:endParaRPr lang="en-US" sz="18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800" dirty="0">
              <a:latin typeface="Times New Roman"/>
              <a:cs typeface="Times New Roman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604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250C39F-3F6C-4D53-86D2-7BC6B2FF6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erson holding a pen and writing on a notebook&#10;&#10;AI-generated content may be incorrect.">
            <a:extLst>
              <a:ext uri="{FF2B5EF4-FFF2-40B4-BE49-F238E27FC236}">
                <a16:creationId xmlns:a16="http://schemas.microsoft.com/office/drawing/2014/main" id="{82CCA4BC-A557-4970-5649-8B0039920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2049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0A48D59-8581-41F7-B529-F4617FE0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6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52023E-321F-EECC-E59E-F6A427DFE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79" y="294568"/>
            <a:ext cx="7501001" cy="1184620"/>
          </a:xfrm>
        </p:spPr>
        <p:txBody>
          <a:bodyPr anchor="b">
            <a:normAutofit/>
          </a:bodyPr>
          <a:lstStyle/>
          <a:p>
            <a:r>
              <a:rPr lang="en-US" b="1" u="sng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/>
                <a:ea typeface="+mj-lt"/>
                <a:cs typeface="Times New Roman"/>
              </a:rPr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DD556-4300-F6BC-4FF7-2A08395CA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777" y="1489999"/>
            <a:ext cx="6571988" cy="507220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Wingdings" panose="020B0604020202020204" pitchFamily="34" charset="0"/>
              <a:buChar char="Ø"/>
            </a:pPr>
            <a:r>
              <a:rPr lang="en-US" sz="2000" b="1">
                <a:solidFill>
                  <a:srgbClr val="FFFF00"/>
                </a:solidFill>
                <a:latin typeface="Times New Roman"/>
                <a:ea typeface="+mn-lt"/>
                <a:cs typeface="Times New Roman"/>
              </a:rPr>
              <a:t>Loyalty Programs</a:t>
            </a:r>
            <a:endParaRPr lang="en-US" sz="2000" b="1">
              <a:solidFill>
                <a:srgbClr val="FFFF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Implement tiered reward programs specifically targeting customers in the critical 6–12-month tenure window to build habituation.</a:t>
            </a:r>
            <a:endParaRPr lang="en-US" sz="20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 sz="2000" b="1">
                <a:solidFill>
                  <a:srgbClr val="FFFF00"/>
                </a:solidFill>
                <a:latin typeface="Times New Roman"/>
                <a:ea typeface="+mn-lt"/>
                <a:cs typeface="Times New Roman"/>
              </a:rPr>
              <a:t>Contract Discounts</a:t>
            </a:r>
            <a:endParaRPr lang="en-US" sz="2000" b="1">
              <a:solidFill>
                <a:srgbClr val="FFFF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Offer strategic discounts or upgraded service tiers to month-to-month customers who agree to sign 1-year or 2-year contracts.</a:t>
            </a:r>
            <a:endParaRPr lang="en-US" sz="20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 sz="2000" b="1">
                <a:solidFill>
                  <a:srgbClr val="FFFF00"/>
                </a:solidFill>
                <a:latin typeface="Times New Roman"/>
                <a:ea typeface="+mn-lt"/>
                <a:cs typeface="Times New Roman"/>
              </a:rPr>
              <a:t>High-Risk Monitoring</a:t>
            </a:r>
            <a:endParaRPr lang="en-US" sz="2000" b="1">
              <a:solidFill>
                <a:srgbClr val="FFFF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Deploy the predictive ML model into a live dashboard for customer service agents to identify and engage high-risk accounts.</a:t>
            </a:r>
            <a:endParaRPr lang="en-US" sz="20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 sz="2000" b="1">
                <a:solidFill>
                  <a:srgbClr val="FFFF00"/>
                </a:solidFill>
                <a:latin typeface="Times New Roman"/>
                <a:ea typeface="+mn-lt"/>
                <a:cs typeface="Times New Roman"/>
              </a:rPr>
              <a:t>Better Onboarding</a:t>
            </a:r>
            <a:endParaRPr lang="en-US" sz="2000" b="1">
              <a:solidFill>
                <a:srgbClr val="FFFF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Revamp the day-1 to day-30 onboarding experience to ensure customers are fully utilizing services, preventing early attrition.</a:t>
            </a:r>
            <a:endParaRPr lang="en-US" sz="20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686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E61BA45B-2E79-5CAF-0064-406A61842E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37" r="5810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4EDA7C-84DB-5269-4C9B-30AA07A29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30" y="-217"/>
            <a:ext cx="6118627" cy="1169228"/>
          </a:xfrm>
        </p:spPr>
        <p:txBody>
          <a:bodyPr>
            <a:normAutofit/>
          </a:bodyPr>
          <a:lstStyle/>
          <a:p>
            <a:r>
              <a:rPr lang="en-US" sz="4000" b="1" u="sng">
                <a:solidFill>
                  <a:srgbClr val="002060"/>
                </a:solidFill>
                <a:latin typeface="Times New Roman"/>
                <a:ea typeface="+mj-lt"/>
                <a:cs typeface="Times New Roman"/>
              </a:rPr>
              <a:t>Expected Business Impact </a:t>
            </a:r>
            <a:endParaRPr lang="en-US" sz="4000" b="1" u="sng">
              <a:solidFill>
                <a:srgbClr val="002060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67E3E-3FF9-5B6F-7458-429759107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830" y="972832"/>
            <a:ext cx="5220928" cy="557991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>
                <a:latin typeface="Times New Roman"/>
                <a:ea typeface="+mn-lt"/>
                <a:cs typeface="Times New Roman"/>
              </a:rPr>
              <a:t>Implementing these data-driven retention strategies will yield measurable organizational benefits.</a:t>
            </a:r>
            <a:endParaRPr lang="en-US" sz="2400" dirty="0">
              <a:latin typeface="Times New Roman"/>
              <a:cs typeface="Times New Roman"/>
            </a:endParaRPr>
          </a:p>
          <a:p>
            <a:pPr marL="514350" indent="-514350">
              <a:buAutoNum type="arabicPeriod"/>
            </a:pPr>
            <a:r>
              <a:rPr lang="en-US" sz="2400" b="1">
                <a:solidFill>
                  <a:srgbClr val="0070C0"/>
                </a:solidFill>
                <a:latin typeface="Times New Roman"/>
                <a:cs typeface="Times New Roman"/>
              </a:rPr>
              <a:t>Reduced Churn</a:t>
            </a:r>
          </a:p>
          <a:p>
            <a:pPr marL="0" indent="0">
              <a:buNone/>
            </a:pPr>
            <a:r>
              <a:rPr lang="en-US" sz="2400">
                <a:latin typeface="Times New Roman"/>
                <a:cs typeface="Times New Roman"/>
              </a:rPr>
              <a:t>Lower overall attrition rate</a:t>
            </a:r>
            <a:endParaRPr 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b="1">
                <a:solidFill>
                  <a:srgbClr val="0070C0"/>
                </a:solidFill>
                <a:latin typeface="Times New Roman"/>
                <a:cs typeface="Times New Roman"/>
              </a:rPr>
              <a:t>2. Increased Retention</a:t>
            </a:r>
          </a:p>
          <a:p>
            <a:pPr>
              <a:buNone/>
            </a:pPr>
            <a:r>
              <a:rPr lang="en-US" sz="2400">
                <a:latin typeface="Times New Roman"/>
                <a:cs typeface="Times New Roman"/>
              </a:rPr>
              <a:t>Higher customer lifetime value</a:t>
            </a:r>
            <a:endParaRPr lang="en-US" sz="2400" dirty="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400" b="1">
                <a:solidFill>
                  <a:srgbClr val="0070C0"/>
                </a:solidFill>
                <a:latin typeface="Times New Roman"/>
                <a:cs typeface="Times New Roman"/>
              </a:rPr>
              <a:t>3. Better CSAT</a:t>
            </a:r>
          </a:p>
          <a:p>
            <a:pPr>
              <a:buNone/>
            </a:pPr>
            <a:r>
              <a:rPr lang="en-US" sz="2400">
                <a:latin typeface="Times New Roman"/>
                <a:cs typeface="Times New Roman"/>
              </a:rPr>
              <a:t>Improved satisfaction scores</a:t>
            </a:r>
            <a:endParaRPr lang="en-US" sz="2400" dirty="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400" b="1">
                <a:solidFill>
                  <a:srgbClr val="0070C0"/>
                </a:solidFill>
                <a:latin typeface="Times New Roman"/>
                <a:cs typeface="Times New Roman"/>
              </a:rPr>
              <a:t>4. Revenue Protected</a:t>
            </a:r>
          </a:p>
          <a:p>
            <a:pPr>
              <a:buNone/>
            </a:pPr>
            <a:r>
              <a:rPr lang="en-US" sz="2400">
                <a:latin typeface="Times New Roman"/>
                <a:cs typeface="Times New Roman"/>
              </a:rPr>
              <a:t>Secured recurring revenue</a:t>
            </a:r>
            <a:endParaRPr lang="en-US" sz="2400" dirty="0">
              <a:latin typeface="Times New Roman"/>
              <a:cs typeface="Times New Roman"/>
            </a:endParaRPr>
          </a:p>
          <a:p>
            <a:pPr>
              <a:buNone/>
            </a:pPr>
            <a:endParaRPr 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80911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3+ Free Unterstrich &amp; Conclusion Images - Pixabay">
            <a:extLst>
              <a:ext uri="{FF2B5EF4-FFF2-40B4-BE49-F238E27FC236}">
                <a16:creationId xmlns:a16="http://schemas.microsoft.com/office/drawing/2014/main" id="{C28EBE4B-5E66-4108-CAFB-61E39359B7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365" r="8323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BCDA22-5792-EB6A-C5E1-44335AE3D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598" y="448633"/>
            <a:ext cx="3081066" cy="1983418"/>
          </a:xfrm>
        </p:spPr>
        <p:txBody>
          <a:bodyPr>
            <a:normAutofit/>
          </a:bodyPr>
          <a:lstStyle/>
          <a:p>
            <a:r>
              <a:rPr lang="en-US" sz="4000" b="1" u="sng">
                <a:solidFill>
                  <a:srgbClr val="0070C0"/>
                </a:solidFill>
                <a:latin typeface="Times New Roman"/>
                <a:ea typeface="+mj-lt"/>
                <a:cs typeface="Times New Roman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F5A51-D71A-3578-A1AC-D835DA727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680" y="2914364"/>
            <a:ext cx="5732407" cy="382627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 algn="just">
              <a:buFont typeface="Wingdings" panose="020B0604020202020204" pitchFamily="34" charset="0"/>
              <a:buChar char="ü"/>
            </a:pPr>
            <a:r>
              <a:rPr lang="en-US" sz="2600">
                <a:solidFill>
                  <a:srgbClr val="002060"/>
                </a:solidFill>
                <a:latin typeface="Times New Roman"/>
                <a:cs typeface="Times New Roman"/>
              </a:rPr>
              <a:t>Data analytics successfully found major behavioral and billing churn drivers.</a:t>
            </a:r>
          </a:p>
          <a:p>
            <a:pPr marL="457200" indent="-457200" algn="just">
              <a:buFont typeface="Wingdings" panose="020B0604020202020204" pitchFamily="34" charset="0"/>
              <a:buChar char="ü"/>
            </a:pPr>
            <a:r>
              <a:rPr lang="en-US" sz="2600">
                <a:solidFill>
                  <a:srgbClr val="002060"/>
                </a:solidFill>
                <a:latin typeface="Times New Roman"/>
                <a:cs typeface="Times New Roman"/>
              </a:rPr>
              <a:t>Predictive modeling now supports proactive, targeted business decisions.</a:t>
            </a:r>
          </a:p>
          <a:p>
            <a:pPr marL="457200" indent="-457200" algn="just">
              <a:buFont typeface="Wingdings" panose="020B0604020202020204" pitchFamily="34" charset="0"/>
              <a:buChar char="ü"/>
            </a:pPr>
            <a:r>
              <a:rPr lang="en-US" sz="2600">
                <a:solidFill>
                  <a:srgbClr val="002060"/>
                </a:solidFill>
                <a:latin typeface="Times New Roman"/>
                <a:cs typeface="Times New Roman"/>
              </a:rPr>
              <a:t>Implementing targeted retention strategies will secure MRR and improve long-term growth.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BCDBB2CE-8D4D-E4E0-1A5A-EEF4E56DBC44}"/>
              </a:ext>
            </a:extLst>
          </p:cNvPr>
          <p:cNvSpPr/>
          <p:nvPr/>
        </p:nvSpPr>
        <p:spPr>
          <a:xfrm>
            <a:off x="8514989" y="197508"/>
            <a:ext cx="3224093" cy="1134074"/>
          </a:xfrm>
          <a:prstGeom prst="wedgeRoundRect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Any Questions?</a:t>
            </a:r>
            <a:endParaRPr lang="en-US" sz="2800" b="1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5935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17" y="8300"/>
            <a:ext cx="12193117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wooden letters on a wood stand&#10;&#10;AI-generated content may be incorrect.">
            <a:extLst>
              <a:ext uri="{FF2B5EF4-FFF2-40B4-BE49-F238E27FC236}">
                <a16:creationId xmlns:a16="http://schemas.microsoft.com/office/drawing/2014/main" id="{BF1660D8-42E0-2113-AB63-426AC1B3D8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0080" b="5548"/>
          <a:stretch>
            <a:fillRect/>
          </a:stretch>
        </p:blipFill>
        <p:spPr>
          <a:xfrm>
            <a:off x="20" y="10"/>
            <a:ext cx="12191980" cy="686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573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Business Analytics &amp; Predictive Modeling Project  Customer Churn Analysis  &amp; Retention Strategy </vt:lpstr>
      <vt:lpstr>The Business Problem </vt:lpstr>
      <vt:lpstr>PROJECT OBJECTIVES </vt:lpstr>
      <vt:lpstr>Dataset Overview </vt:lpstr>
      <vt:lpstr>Data Cleaning &amp; Preparation </vt:lpstr>
      <vt:lpstr>Customer Churn Distribution </vt:lpstr>
      <vt:lpstr>Tenure vs Churn Analysis </vt:lpstr>
      <vt:lpstr>Contract Type Analysis</vt:lpstr>
      <vt:lpstr>Correlation Heatmap Analysis</vt:lpstr>
      <vt:lpstr>Predictive Modeling Workflow</vt:lpstr>
      <vt:lpstr>Feature Importance Analysis</vt:lpstr>
      <vt:lpstr>Business Recommendations</vt:lpstr>
      <vt:lpstr>Expected Business Impact 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535</cp:revision>
  <dcterms:created xsi:type="dcterms:W3CDTF">2013-07-15T20:26:40Z</dcterms:created>
  <dcterms:modified xsi:type="dcterms:W3CDTF">2026-05-27T23:17:00Z</dcterms:modified>
</cp:coreProperties>
</file>